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34688" y="3296418"/>
            <a:ext cx="5550937" cy="861497"/>
          </a:xfrm>
        </p:spPr>
        <p:txBody>
          <a:bodyPr vert="horz" lIns="91440" tIns="45720" rIns="91440" bIns="45720" rtlCol="0" anchor="t">
            <a:normAutofit/>
          </a:bodyPr>
          <a:lstStyle/>
          <a:p>
            <a:r>
              <a:rPr lang="en-US" dirty="0">
                <a:solidFill>
                  <a:schemeClr val="tx1"/>
                </a:solidFill>
              </a:rPr>
              <a:t>KONDETI PALLAVI</a:t>
            </a:r>
            <a:br>
              <a:rPr lang="en-US" dirty="0">
                <a:solidFill>
                  <a:schemeClr val="tx1"/>
                </a:solidFill>
              </a:rPr>
            </a:br>
            <a:r>
              <a:rPr lang="en-US" dirty="0">
                <a:solidFill>
                  <a:schemeClr val="tx1"/>
                </a:solidFill>
              </a:rPr>
              <a:t>CMR TECHNICAL CAMPUS</a:t>
            </a:r>
            <a:endParaRPr lang="en-IN" dirty="0">
              <a:solidFill>
                <a:schemeClr val="tx1"/>
              </a:solidFill>
            </a:endParaRPr>
          </a:p>
          <a:p>
            <a:pPr algn="ct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34688" y="2685552"/>
            <a:ext cx="9681023" cy="743448"/>
          </a:xfrm>
        </p:spPr>
        <p:txBody>
          <a:bodyPr>
            <a:no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134688" y="3959258"/>
            <a:ext cx="5266112" cy="646331"/>
          </a:xfrm>
          <a:prstGeom prst="rect">
            <a:avLst/>
          </a:prstGeom>
          <a:noFill/>
        </p:spPr>
        <p:txBody>
          <a:bodyPr wrap="square" rtlCol="0">
            <a:spAutoFit/>
          </a:bodyPr>
          <a:lstStyle/>
          <a:p>
            <a:r>
              <a:rPr lang="en-US" b="1" dirty="0"/>
              <a:t>AICTE STU ID:STU6580023cd8f631702887996</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625006"/>
            <a:ext cx="6431280" cy="3607987"/>
          </a:xfrm>
        </p:spPr>
        <p:txBody>
          <a:bodyPr vert="horz" lIns="91440" tIns="45720" rIns="91440" bIns="45720" rtlCol="0" anchor="t">
            <a:normAutofit fontScale="77500" lnSpcReduction="20000"/>
          </a:bodyPr>
          <a:lstStyle/>
          <a:p>
            <a:pPr marL="0" indent="0" algn="just">
              <a:lnSpc>
                <a:spcPct val="100000"/>
              </a:lnSpc>
              <a:buNone/>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556104" y="1697669"/>
            <a:ext cx="9007773" cy="4832092"/>
          </a:xfrm>
          <a:prstGeom prst="rect">
            <a:avLst/>
          </a:prstGeom>
          <a:noFill/>
        </p:spPr>
        <p:txBody>
          <a:bodyPr wrap="square">
            <a:spAutoFit/>
          </a:bodyPr>
          <a:lstStyle/>
          <a:p>
            <a:pPr algn="just"/>
            <a:r>
              <a:rPr lang="en-IN" sz="2200" dirty="0">
                <a:latin typeface="Times New Roman" panose="02020603050405020304" pitchFamily="18" charset="0"/>
                <a:cs typeface="Times New Roman" panose="02020603050405020304" pitchFamily="18" charset="0"/>
              </a:rPr>
              <a:t>This project studies seasonal patterns in Indian agriculture using a dataset of 4,000 farm records spanning 8 states, 8 crops, and 4 irrigation types. The core focus is on whether farm performance actually differs between the Kharif, Rabi, and Zaid seasons, and how.</a:t>
            </a:r>
          </a:p>
          <a:p>
            <a:pPr algn="just"/>
            <a:r>
              <a:rPr lang="en-IN" sz="2200" dirty="0">
                <a:latin typeface="Times New Roman" panose="02020603050405020304" pitchFamily="18" charset="0"/>
                <a:cs typeface="Times New Roman" panose="02020603050405020304" pitchFamily="18" charset="0"/>
              </a:rPr>
              <a:t>To find out, the data was cleaned and </a:t>
            </a:r>
            <a:r>
              <a:rPr lang="en-IN" sz="2200" dirty="0" err="1">
                <a:latin typeface="Times New Roman" panose="02020603050405020304" pitchFamily="18" charset="0"/>
                <a:cs typeface="Times New Roman" panose="02020603050405020304" pitchFamily="18" charset="0"/>
              </a:rPr>
              <a:t>analyzed</a:t>
            </a:r>
            <a:r>
              <a:rPr lang="en-IN" sz="2200" dirty="0">
                <a:latin typeface="Times New Roman" panose="02020603050405020304" pitchFamily="18" charset="0"/>
                <a:cs typeface="Times New Roman" panose="02020603050405020304" pitchFamily="18" charset="0"/>
              </a:rPr>
              <a:t> in Python (Pandas, Seaborn, Matplotlib, SciPy) inside Google </a:t>
            </a:r>
            <a:r>
              <a:rPr lang="en-IN" sz="2200" dirty="0" err="1">
                <a:latin typeface="Times New Roman" panose="02020603050405020304" pitchFamily="18" charset="0"/>
                <a:cs typeface="Times New Roman" panose="02020603050405020304" pitchFamily="18" charset="0"/>
              </a:rPr>
              <a:t>Colab</a:t>
            </a:r>
            <a:r>
              <a:rPr lang="en-IN" sz="2200" dirty="0">
                <a:latin typeface="Times New Roman" panose="02020603050405020304" pitchFamily="18" charset="0"/>
                <a:cs typeface="Times New Roman" panose="02020603050405020304" pitchFamily="18" charset="0"/>
              </a:rPr>
              <a:t>. The analysis looks at weather conditions, water and fertilizer use, crop yields, disease/pest risk, and profitability across each season and each state, then runs a statistical test (one-way ANOVA) to check whether the seasonal yield gaps are real or just random noise.</a:t>
            </a:r>
          </a:p>
          <a:p>
            <a:pPr algn="just"/>
            <a:r>
              <a:rPr lang="en-IN" sz="2200" dirty="0">
                <a:latin typeface="Times New Roman" panose="02020603050405020304" pitchFamily="18" charset="0"/>
                <a:cs typeface="Times New Roman" panose="02020603050405020304" pitchFamily="18" charset="0"/>
              </a:rPr>
              <a:t>The end result is a set of practical, data-backed conclusions about which seasons perform best, where the risks are highest, and how that could inform smarter seasonal planning for farmers and policymakers.</a:t>
            </a:r>
          </a:p>
          <a:p>
            <a:pPr algn="just"/>
            <a:endParaRPr sz="2200" b="0" i="0" dirty="0">
              <a:solidFill>
                <a:srgbClr val="21292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57464" y="1250466"/>
            <a:ext cx="9728927" cy="3990023"/>
          </a:xfrm>
        </p:spPr>
        <p:txBody>
          <a:bodyPr wrap="square">
            <a:noAutofit/>
          </a:bodyPr>
          <a:lstStyle/>
          <a:p>
            <a:pPr algn="just">
              <a:spcAft>
                <a:spcPts val="1000"/>
              </a:spcAft>
            </a:pPr>
            <a:r>
              <a:rPr sz="2200" b="1" dirty="0">
                <a:solidFill>
                  <a:srgbClr val="21292C"/>
                </a:solidFill>
                <a:latin typeface="Times New Roman" panose="02020603050405020304" pitchFamily="18" charset="0"/>
                <a:cs typeface="Times New Roman" panose="02020603050405020304" pitchFamily="18" charset="0"/>
              </a:rPr>
              <a:t>Farmers &amp; farming cooperatives</a:t>
            </a:r>
            <a:r>
              <a:rPr sz="2200" dirty="0">
                <a:solidFill>
                  <a:srgbClr val="21292C"/>
                </a:solidFill>
                <a:latin typeface="Times New Roman" panose="02020603050405020304" pitchFamily="18" charset="0"/>
                <a:cs typeface="Times New Roman" panose="02020603050405020304" pitchFamily="18" charset="0"/>
              </a:rPr>
              <a:t> — to plan crop and irrigation choices by season.</a:t>
            </a:r>
            <a:endParaRPr lang="en-IN" sz="2200" dirty="0">
              <a:latin typeface="Times New Roman" panose="02020603050405020304" pitchFamily="18" charset="0"/>
              <a:cs typeface="Times New Roman" panose="02020603050405020304" pitchFamily="18" charset="0"/>
            </a:endParaRPr>
          </a:p>
          <a:p>
            <a:pPr>
              <a:spcAft>
                <a:spcPts val="1000"/>
              </a:spcAft>
            </a:pPr>
            <a:r>
              <a:rPr sz="2200" b="1" dirty="0">
                <a:solidFill>
                  <a:srgbClr val="21292C"/>
                </a:solidFill>
                <a:latin typeface="Times New Roman" panose="02020603050405020304" pitchFamily="18" charset="0"/>
                <a:cs typeface="Times New Roman" panose="02020603050405020304" pitchFamily="18" charset="0"/>
              </a:rPr>
              <a:t>Agricultural extension officers</a:t>
            </a:r>
            <a:r>
              <a:rPr sz="2200" dirty="0">
                <a:solidFill>
                  <a:srgbClr val="21292C"/>
                </a:solidFill>
                <a:latin typeface="Times New Roman" panose="02020603050405020304" pitchFamily="18" charset="0"/>
                <a:cs typeface="Times New Roman" panose="02020603050405020304" pitchFamily="18" charset="0"/>
              </a:rPr>
              <a:t> — to advise farmers on season-specific best practices.</a:t>
            </a:r>
          </a:p>
          <a:p>
            <a:pPr>
              <a:spcAft>
                <a:spcPts val="1000"/>
              </a:spcAft>
            </a:pPr>
            <a:r>
              <a:rPr sz="2200" b="1" dirty="0">
                <a:solidFill>
                  <a:srgbClr val="21292C"/>
                </a:solidFill>
                <a:latin typeface="Times New Roman" panose="02020603050405020304" pitchFamily="18" charset="0"/>
                <a:cs typeface="Times New Roman" panose="02020603050405020304" pitchFamily="18" charset="0"/>
              </a:rPr>
              <a:t>State agriculture departments</a:t>
            </a:r>
            <a:r>
              <a:rPr sz="2200" dirty="0">
                <a:solidFill>
                  <a:srgbClr val="21292C"/>
                </a:solidFill>
                <a:latin typeface="Times New Roman" panose="02020603050405020304" pitchFamily="18" charset="0"/>
                <a:cs typeface="Times New Roman" panose="02020603050405020304" pitchFamily="18" charset="0"/>
              </a:rPr>
              <a:t> — to plan resource allocation and subsidies regionally.</a:t>
            </a:r>
          </a:p>
          <a:p>
            <a:pPr>
              <a:spcAft>
                <a:spcPts val="1000"/>
              </a:spcAft>
            </a:pPr>
            <a:r>
              <a:rPr sz="2200" b="1" dirty="0">
                <a:solidFill>
                  <a:srgbClr val="21292C"/>
                </a:solidFill>
                <a:latin typeface="Times New Roman" panose="02020603050405020304" pitchFamily="18" charset="0"/>
                <a:cs typeface="Times New Roman" panose="02020603050405020304" pitchFamily="18" charset="0"/>
              </a:rPr>
              <a:t>Agri-finance &amp; insurance providers</a:t>
            </a:r>
            <a:r>
              <a:rPr sz="2200" dirty="0">
                <a:solidFill>
                  <a:srgbClr val="21292C"/>
                </a:solidFill>
                <a:latin typeface="Times New Roman" panose="02020603050405020304" pitchFamily="18" charset="0"/>
                <a:cs typeface="Times New Roman" panose="02020603050405020304" pitchFamily="18" charset="0"/>
              </a:rPr>
              <a:t> — to assess seasonal risk when pricing loans/insurance.</a:t>
            </a:r>
          </a:p>
          <a:p>
            <a:pPr>
              <a:spcAft>
                <a:spcPts val="1000"/>
              </a:spcAft>
            </a:pPr>
            <a:r>
              <a:rPr sz="2200" b="1" dirty="0">
                <a:solidFill>
                  <a:srgbClr val="21292C"/>
                </a:solidFill>
                <a:latin typeface="Times New Roman" panose="02020603050405020304" pitchFamily="18" charset="0"/>
                <a:cs typeface="Times New Roman" panose="02020603050405020304" pitchFamily="18" charset="0"/>
              </a:rPr>
              <a:t>Researchers &amp; </a:t>
            </a:r>
            <a:r>
              <a:rPr sz="2200" b="1" dirty="0" err="1">
                <a:solidFill>
                  <a:srgbClr val="21292C"/>
                </a:solidFill>
                <a:latin typeface="Times New Roman" panose="02020603050405020304" pitchFamily="18" charset="0"/>
                <a:cs typeface="Times New Roman" panose="02020603050405020304" pitchFamily="18" charset="0"/>
              </a:rPr>
              <a:t>agri</a:t>
            </a:r>
            <a:r>
              <a:rPr sz="2200" b="1" dirty="0">
                <a:solidFill>
                  <a:srgbClr val="21292C"/>
                </a:solidFill>
                <a:latin typeface="Times New Roman" panose="02020603050405020304" pitchFamily="18" charset="0"/>
                <a:cs typeface="Times New Roman" panose="02020603050405020304" pitchFamily="18" charset="0"/>
              </a:rPr>
              <a:t>-tech startups</a:t>
            </a:r>
            <a:r>
              <a:rPr sz="2200" dirty="0">
                <a:solidFill>
                  <a:srgbClr val="21292C"/>
                </a:solidFill>
                <a:latin typeface="Times New Roman" panose="02020603050405020304" pitchFamily="18" charset="0"/>
                <a:cs typeface="Times New Roman" panose="02020603050405020304" pitchFamily="18" charset="0"/>
              </a:rPr>
              <a:t> — to build on the seasonal patterns for further modeling.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44076" y="447825"/>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36171" y="1346990"/>
            <a:ext cx="9667782" cy="3792583"/>
          </a:xfrm>
        </p:spPr>
        <p:txBody>
          <a:bodyPr wrap="square">
            <a:normAutofit/>
          </a:bodyPr>
          <a:lstStyle/>
          <a:p>
            <a:pPr lvl="1">
              <a:lnSpc>
                <a:spcPct val="150000"/>
              </a:lnSpc>
              <a:spcAft>
                <a:spcPts val="500"/>
              </a:spcAft>
            </a:pPr>
            <a:r>
              <a:rPr sz="2200" b="1" dirty="0">
                <a:solidFill>
                  <a:srgbClr val="21292C"/>
                </a:solidFill>
                <a:latin typeface="Times New Roman" panose="02020603050405020304" pitchFamily="18" charset="0"/>
                <a:cs typeface="Times New Roman" panose="02020603050405020304" pitchFamily="18" charset="0"/>
              </a:rPr>
              <a:t>Python</a:t>
            </a:r>
            <a:r>
              <a:rPr sz="2200" dirty="0">
                <a:solidFill>
                  <a:srgbClr val="21292C"/>
                </a:solidFill>
                <a:latin typeface="Times New Roman" panose="02020603050405020304" pitchFamily="18" charset="0"/>
                <a:cs typeface="Times New Roman" panose="02020603050405020304" pitchFamily="18" charset="0"/>
              </a:rPr>
              <a:t> — core language for data analysis</a:t>
            </a:r>
            <a:endParaRPr lang="en-US" sz="2200" dirty="0">
              <a:solidFill>
                <a:srgbClr val="21292C"/>
              </a:solidFill>
              <a:latin typeface="Times New Roman" panose="02020603050405020304" pitchFamily="18" charset="0"/>
              <a:cs typeface="Times New Roman" panose="02020603050405020304" pitchFamily="18" charset="0"/>
            </a:endParaRPr>
          </a:p>
          <a:p>
            <a:pPr lvl="1">
              <a:lnSpc>
                <a:spcPct val="150000"/>
              </a:lnSpc>
              <a:spcAft>
                <a:spcPts val="500"/>
              </a:spcAft>
            </a:pPr>
            <a:r>
              <a:rPr lang="en-US" sz="2200" b="1" dirty="0">
                <a:solidFill>
                  <a:srgbClr val="21292C"/>
                </a:solidFill>
                <a:latin typeface="Times New Roman" panose="02020603050405020304" pitchFamily="18" charset="0"/>
                <a:cs typeface="Times New Roman" panose="02020603050405020304" pitchFamily="18" charset="0"/>
              </a:rPr>
              <a:t>Pandas &amp; NumPy</a:t>
            </a:r>
            <a:r>
              <a:rPr lang="en-US" sz="2200" dirty="0">
                <a:solidFill>
                  <a:srgbClr val="21292C"/>
                </a:solidFill>
                <a:latin typeface="Times New Roman" panose="02020603050405020304" pitchFamily="18" charset="0"/>
                <a:cs typeface="Times New Roman" panose="02020603050405020304" pitchFamily="18" charset="0"/>
              </a:rPr>
              <a:t> — data cleaning, aggregation, pivot tables</a:t>
            </a:r>
          </a:p>
          <a:p>
            <a:pPr lvl="1">
              <a:lnSpc>
                <a:spcPct val="150000"/>
              </a:lnSpc>
              <a:spcAft>
                <a:spcPts val="500"/>
              </a:spcAft>
            </a:pPr>
            <a:r>
              <a:rPr lang="en-US" sz="2200" b="1" dirty="0">
                <a:solidFill>
                  <a:srgbClr val="21292C"/>
                </a:solidFill>
                <a:latin typeface="Times New Roman" panose="02020603050405020304" pitchFamily="18" charset="0"/>
                <a:cs typeface="Times New Roman" panose="02020603050405020304" pitchFamily="18" charset="0"/>
              </a:rPr>
              <a:t>Matplotlib &amp; Seaborn</a:t>
            </a:r>
            <a:r>
              <a:rPr lang="en-US" sz="2200" dirty="0">
                <a:solidFill>
                  <a:srgbClr val="21292C"/>
                </a:solidFill>
                <a:latin typeface="Times New Roman" panose="02020603050405020304" pitchFamily="18" charset="0"/>
                <a:cs typeface="Times New Roman" panose="02020603050405020304" pitchFamily="18" charset="0"/>
              </a:rPr>
              <a:t> — visualizations (boxplots, heatmaps, bar charts)</a:t>
            </a:r>
          </a:p>
          <a:p>
            <a:pPr lvl="1">
              <a:lnSpc>
                <a:spcPct val="150000"/>
              </a:lnSpc>
              <a:spcAft>
                <a:spcPts val="500"/>
              </a:spcAft>
            </a:pPr>
            <a:r>
              <a:rPr lang="en-IN" sz="2200" b="1" dirty="0">
                <a:solidFill>
                  <a:srgbClr val="21292C"/>
                </a:solidFill>
                <a:latin typeface="Times New Roman" panose="02020603050405020304" pitchFamily="18" charset="0"/>
                <a:cs typeface="Times New Roman" panose="02020603050405020304" pitchFamily="18" charset="0"/>
              </a:rPr>
              <a:t>SciPy</a:t>
            </a:r>
            <a:r>
              <a:rPr lang="en-IN" sz="2200" dirty="0">
                <a:solidFill>
                  <a:srgbClr val="21292C"/>
                </a:solidFill>
                <a:latin typeface="Times New Roman" panose="02020603050405020304" pitchFamily="18" charset="0"/>
                <a:cs typeface="Times New Roman" panose="02020603050405020304" pitchFamily="18" charset="0"/>
              </a:rPr>
              <a:t> — ANOVA significance testing</a:t>
            </a:r>
          </a:p>
          <a:p>
            <a:pPr lvl="1">
              <a:lnSpc>
                <a:spcPct val="150000"/>
              </a:lnSpc>
              <a:spcAft>
                <a:spcPts val="500"/>
              </a:spcAft>
            </a:pPr>
            <a:r>
              <a:rPr lang="fr-FR" sz="2200" b="1" dirty="0">
                <a:solidFill>
                  <a:srgbClr val="21292C"/>
                </a:solidFill>
                <a:latin typeface="Times New Roman" panose="02020603050405020304" pitchFamily="18" charset="0"/>
                <a:cs typeface="Times New Roman" panose="02020603050405020304" pitchFamily="18" charset="0"/>
              </a:rPr>
              <a:t>Google </a:t>
            </a:r>
            <a:r>
              <a:rPr lang="fr-FR" sz="2200" b="1" dirty="0" err="1">
                <a:solidFill>
                  <a:srgbClr val="21292C"/>
                </a:solidFill>
                <a:latin typeface="Times New Roman" panose="02020603050405020304" pitchFamily="18" charset="0"/>
                <a:cs typeface="Times New Roman" panose="02020603050405020304" pitchFamily="18" charset="0"/>
              </a:rPr>
              <a:t>Colab</a:t>
            </a:r>
            <a:r>
              <a:rPr lang="fr-FR" sz="2200" dirty="0">
                <a:solidFill>
                  <a:srgbClr val="21292C"/>
                </a:solidFill>
                <a:latin typeface="Times New Roman" panose="02020603050405020304" pitchFamily="18" charset="0"/>
                <a:cs typeface="Times New Roman" panose="02020603050405020304" pitchFamily="18" charset="0"/>
              </a:rPr>
              <a:t> — </a:t>
            </a:r>
            <a:r>
              <a:rPr lang="fr-FR" sz="2200" dirty="0" err="1">
                <a:solidFill>
                  <a:srgbClr val="21292C"/>
                </a:solidFill>
                <a:latin typeface="Times New Roman" panose="02020603050405020304" pitchFamily="18" charset="0"/>
                <a:cs typeface="Times New Roman" panose="02020603050405020304" pitchFamily="18" charset="0"/>
              </a:rPr>
              <a:t>development</a:t>
            </a:r>
            <a:r>
              <a:rPr lang="fr-FR" sz="2200" dirty="0">
                <a:solidFill>
                  <a:srgbClr val="21292C"/>
                </a:solidFill>
                <a:latin typeface="Times New Roman" panose="02020603050405020304" pitchFamily="18" charset="0"/>
                <a:cs typeface="Times New Roman" panose="02020603050405020304" pitchFamily="18" charset="0"/>
              </a:rPr>
              <a:t> &amp; documentation </a:t>
            </a:r>
            <a:r>
              <a:rPr lang="fr-FR" sz="2200" dirty="0" err="1">
                <a:solidFill>
                  <a:srgbClr val="21292C"/>
                </a:solidFill>
                <a:latin typeface="Times New Roman" panose="02020603050405020304" pitchFamily="18" charset="0"/>
                <a:cs typeface="Times New Roman" panose="02020603050405020304" pitchFamily="18" charset="0"/>
              </a:rPr>
              <a:t>environment</a:t>
            </a:r>
            <a:endParaRPr lang="fr-FR" sz="2200" dirty="0">
              <a:solidFill>
                <a:srgbClr val="21292C"/>
              </a:solidFill>
              <a:latin typeface="Times New Roman" panose="02020603050405020304" pitchFamily="18" charset="0"/>
              <a:cs typeface="Times New Roman" panose="02020603050405020304" pitchFamily="18" charset="0"/>
            </a:endParaRPr>
          </a:p>
          <a:p>
            <a:pPr lvl="1">
              <a:lnSpc>
                <a:spcPct val="150000"/>
              </a:lnSpc>
              <a:spcAft>
                <a:spcPts val="500"/>
              </a:spcAft>
            </a:pPr>
            <a:endParaRPr lang="en-IN" sz="2200" dirty="0">
              <a:solidFill>
                <a:srgbClr val="21292C"/>
              </a:solidFill>
              <a:latin typeface="Times New Roman" panose="02020603050405020304" pitchFamily="18" charset="0"/>
              <a:cs typeface="Times New Roman" panose="02020603050405020304" pitchFamily="18" charset="0"/>
            </a:endParaRPr>
          </a:p>
          <a:p>
            <a:pPr lvl="1">
              <a:lnSpc>
                <a:spcPct val="150000"/>
              </a:lnSpc>
              <a:spcAft>
                <a:spcPts val="500"/>
              </a:spcAft>
            </a:pPr>
            <a:endParaRPr lang="en-US" sz="2200" dirty="0">
              <a:solidFill>
                <a:srgbClr val="21292C"/>
              </a:solidFill>
              <a:latin typeface="Times New Roman" panose="02020603050405020304" pitchFamily="18" charset="0"/>
              <a:cs typeface="Times New Roman" panose="02020603050405020304" pitchFamily="18" charset="0"/>
            </a:endParaRPr>
          </a:p>
          <a:p>
            <a:pPr lvl="1">
              <a:lnSpc>
                <a:spcPct val="150000"/>
              </a:lnSpc>
              <a:spcAft>
                <a:spcPts val="500"/>
              </a:spcAft>
            </a:pPr>
            <a:endParaRPr lang="en-US" sz="2200" dirty="0">
              <a:solidFill>
                <a:srgbClr val="21292C"/>
              </a:solidFill>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nodePh="1">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nodePh="1">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nodePh="1">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nodePh="1">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B9E4561-9279-1009-44C5-F41D9B675EBE}"/>
              </a:ext>
            </a:extLst>
          </p:cNvPr>
          <p:cNvPicPr>
            <a:picLocks noChangeAspect="1"/>
          </p:cNvPicPr>
          <p:nvPr/>
        </p:nvPicPr>
        <p:blipFill>
          <a:blip r:embed="rId3"/>
          <a:stretch>
            <a:fillRect/>
          </a:stretch>
        </p:blipFill>
        <p:spPr>
          <a:xfrm>
            <a:off x="863821" y="1061299"/>
            <a:ext cx="5710339" cy="2842292"/>
          </a:xfrm>
          <a:prstGeom prst="rect">
            <a:avLst/>
          </a:prstGeom>
        </p:spPr>
      </p:pic>
      <p:pic>
        <p:nvPicPr>
          <p:cNvPr id="9" name="Picture 8">
            <a:extLst>
              <a:ext uri="{FF2B5EF4-FFF2-40B4-BE49-F238E27FC236}">
                <a16:creationId xmlns:a16="http://schemas.microsoft.com/office/drawing/2014/main" id="{1A84493A-D019-7807-191B-073AFCDC2FEF}"/>
              </a:ext>
            </a:extLst>
          </p:cNvPr>
          <p:cNvPicPr>
            <a:picLocks noChangeAspect="1"/>
          </p:cNvPicPr>
          <p:nvPr/>
        </p:nvPicPr>
        <p:blipFill>
          <a:blip r:embed="rId4"/>
          <a:stretch>
            <a:fillRect/>
          </a:stretch>
        </p:blipFill>
        <p:spPr>
          <a:xfrm>
            <a:off x="675957" y="3769915"/>
            <a:ext cx="6200704" cy="30880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D506ED9-73E0-93AD-5FB5-2A34B4B3B2EE}"/>
              </a:ext>
            </a:extLst>
          </p:cNvPr>
          <p:cNvPicPr>
            <a:picLocks noChangeAspect="1"/>
          </p:cNvPicPr>
          <p:nvPr/>
        </p:nvPicPr>
        <p:blipFill>
          <a:blip r:embed="rId3"/>
          <a:stretch>
            <a:fillRect/>
          </a:stretch>
        </p:blipFill>
        <p:spPr>
          <a:xfrm>
            <a:off x="320982" y="1082351"/>
            <a:ext cx="7896655" cy="2671118"/>
          </a:xfrm>
          <a:prstGeom prst="rect">
            <a:avLst/>
          </a:prstGeom>
        </p:spPr>
      </p:pic>
      <p:pic>
        <p:nvPicPr>
          <p:cNvPr id="9" name="Picture 8">
            <a:extLst>
              <a:ext uri="{FF2B5EF4-FFF2-40B4-BE49-F238E27FC236}">
                <a16:creationId xmlns:a16="http://schemas.microsoft.com/office/drawing/2014/main" id="{953E2009-8C64-7821-FD2D-BD68BDCCC914}"/>
              </a:ext>
            </a:extLst>
          </p:cNvPr>
          <p:cNvPicPr>
            <a:picLocks noChangeAspect="1"/>
          </p:cNvPicPr>
          <p:nvPr/>
        </p:nvPicPr>
        <p:blipFill>
          <a:blip r:embed="rId4"/>
          <a:stretch>
            <a:fillRect/>
          </a:stretch>
        </p:blipFill>
        <p:spPr>
          <a:xfrm>
            <a:off x="444295" y="3827254"/>
            <a:ext cx="5428560" cy="291151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C0F3F14-8B18-028C-29CC-6CBCDF81FEBD}"/>
              </a:ext>
            </a:extLst>
          </p:cNvPr>
          <p:cNvPicPr>
            <a:picLocks noChangeAspect="1"/>
          </p:cNvPicPr>
          <p:nvPr/>
        </p:nvPicPr>
        <p:blipFill>
          <a:blip r:embed="rId3"/>
          <a:stretch>
            <a:fillRect/>
          </a:stretch>
        </p:blipFill>
        <p:spPr>
          <a:xfrm>
            <a:off x="815916" y="1110343"/>
            <a:ext cx="6741880" cy="2741480"/>
          </a:xfrm>
          <a:prstGeom prst="rect">
            <a:avLst/>
          </a:prstGeom>
        </p:spPr>
      </p:pic>
      <p:pic>
        <p:nvPicPr>
          <p:cNvPr id="9" name="Picture 8">
            <a:extLst>
              <a:ext uri="{FF2B5EF4-FFF2-40B4-BE49-F238E27FC236}">
                <a16:creationId xmlns:a16="http://schemas.microsoft.com/office/drawing/2014/main" id="{0C2D0651-542E-CFF1-8DF7-9E4722A7FE24}"/>
              </a:ext>
            </a:extLst>
          </p:cNvPr>
          <p:cNvPicPr>
            <a:picLocks noChangeAspect="1"/>
          </p:cNvPicPr>
          <p:nvPr/>
        </p:nvPicPr>
        <p:blipFill>
          <a:blip r:embed="rId4"/>
          <a:stretch>
            <a:fillRect/>
          </a:stretch>
        </p:blipFill>
        <p:spPr>
          <a:xfrm>
            <a:off x="815916" y="4016851"/>
            <a:ext cx="7376362" cy="261580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CCF9223-31BD-D70B-FBAB-D1C7FCA0BF03}"/>
              </a:ext>
            </a:extLst>
          </p:cNvPr>
          <p:cNvPicPr>
            <a:picLocks noChangeAspect="1"/>
          </p:cNvPicPr>
          <p:nvPr/>
        </p:nvPicPr>
        <p:blipFill>
          <a:blip r:embed="rId3"/>
          <a:stretch>
            <a:fillRect/>
          </a:stretch>
        </p:blipFill>
        <p:spPr>
          <a:xfrm>
            <a:off x="594984" y="992490"/>
            <a:ext cx="7354697" cy="2684748"/>
          </a:xfrm>
          <a:prstGeom prst="rect">
            <a:avLst/>
          </a:prstGeom>
        </p:spPr>
      </p:pic>
      <p:pic>
        <p:nvPicPr>
          <p:cNvPr id="9" name="Picture 8">
            <a:extLst>
              <a:ext uri="{FF2B5EF4-FFF2-40B4-BE49-F238E27FC236}">
                <a16:creationId xmlns:a16="http://schemas.microsoft.com/office/drawing/2014/main" id="{8A73DFD0-6809-9416-782A-2BF4B6040447}"/>
              </a:ext>
            </a:extLst>
          </p:cNvPr>
          <p:cNvPicPr>
            <a:picLocks noChangeAspect="1"/>
          </p:cNvPicPr>
          <p:nvPr/>
        </p:nvPicPr>
        <p:blipFill>
          <a:blip r:embed="rId4"/>
          <a:stretch>
            <a:fillRect/>
          </a:stretch>
        </p:blipFill>
        <p:spPr>
          <a:xfrm>
            <a:off x="675957" y="3834882"/>
            <a:ext cx="7590965" cy="291682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34F8AAA-4A78-D570-42BB-302B151703BB}"/>
              </a:ext>
            </a:extLst>
          </p:cNvPr>
          <p:cNvPicPr>
            <a:picLocks noChangeAspect="1"/>
          </p:cNvPicPr>
          <p:nvPr/>
        </p:nvPicPr>
        <p:blipFill>
          <a:blip r:embed="rId3"/>
          <a:stretch>
            <a:fillRect/>
          </a:stretch>
        </p:blipFill>
        <p:spPr>
          <a:xfrm>
            <a:off x="675957" y="1200210"/>
            <a:ext cx="7858445" cy="2830056"/>
          </a:xfrm>
          <a:prstGeom prst="rect">
            <a:avLst/>
          </a:prstGeom>
        </p:spPr>
      </p:pic>
      <p:pic>
        <p:nvPicPr>
          <p:cNvPr id="9" name="Picture 8">
            <a:extLst>
              <a:ext uri="{FF2B5EF4-FFF2-40B4-BE49-F238E27FC236}">
                <a16:creationId xmlns:a16="http://schemas.microsoft.com/office/drawing/2014/main" id="{F89EF4C1-A971-1B02-9A14-DA48F6609FD7}"/>
              </a:ext>
            </a:extLst>
          </p:cNvPr>
          <p:cNvPicPr>
            <a:picLocks noChangeAspect="1"/>
          </p:cNvPicPr>
          <p:nvPr/>
        </p:nvPicPr>
        <p:blipFill>
          <a:blip r:embed="rId4"/>
          <a:stretch>
            <a:fillRect/>
          </a:stretch>
        </p:blipFill>
        <p:spPr>
          <a:xfrm>
            <a:off x="675956" y="4070706"/>
            <a:ext cx="7973521" cy="278729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3CCB-9C23-B808-550B-F01A2475D12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A23CB9-488B-16C3-3209-DB6CE20C534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F6FF1E-8EE0-53F0-2100-9C1DB4F4DB7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76CBA30-6CF1-15CA-09AD-AD5CAFDA46C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A2C49E8-EE83-F474-727C-30E0C4AEE8D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8F471D3-41C2-AA28-A7C8-4942B7C1A093}"/>
              </a:ext>
            </a:extLst>
          </p:cNvPr>
          <p:cNvPicPr>
            <a:picLocks noChangeAspect="1"/>
          </p:cNvPicPr>
          <p:nvPr/>
        </p:nvPicPr>
        <p:blipFill>
          <a:blip r:embed="rId3"/>
          <a:stretch>
            <a:fillRect/>
          </a:stretch>
        </p:blipFill>
        <p:spPr>
          <a:xfrm>
            <a:off x="4634927" y="79393"/>
            <a:ext cx="7117106" cy="2244386"/>
          </a:xfrm>
          <a:prstGeom prst="rect">
            <a:avLst/>
          </a:prstGeom>
        </p:spPr>
      </p:pic>
      <p:pic>
        <p:nvPicPr>
          <p:cNvPr id="11" name="Picture 10">
            <a:extLst>
              <a:ext uri="{FF2B5EF4-FFF2-40B4-BE49-F238E27FC236}">
                <a16:creationId xmlns:a16="http://schemas.microsoft.com/office/drawing/2014/main" id="{2B046EC4-03ED-22AE-B520-83DF220FCFF0}"/>
              </a:ext>
            </a:extLst>
          </p:cNvPr>
          <p:cNvPicPr>
            <a:picLocks noChangeAspect="1"/>
          </p:cNvPicPr>
          <p:nvPr/>
        </p:nvPicPr>
        <p:blipFill>
          <a:blip r:embed="rId4"/>
          <a:stretch>
            <a:fillRect/>
          </a:stretch>
        </p:blipFill>
        <p:spPr>
          <a:xfrm>
            <a:off x="163112" y="2285061"/>
            <a:ext cx="6399021" cy="4498321"/>
          </a:xfrm>
          <a:prstGeom prst="rect">
            <a:avLst/>
          </a:prstGeom>
        </p:spPr>
      </p:pic>
    </p:spTree>
    <p:extLst>
      <p:ext uri="{BB962C8B-B14F-4D97-AF65-F5344CB8AC3E}">
        <p14:creationId xmlns:p14="http://schemas.microsoft.com/office/powerpoint/2010/main" val="147795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85800" y="1417320"/>
            <a:ext cx="8046720" cy="3888244"/>
          </a:xfrm>
          <a:prstGeom prst="rect">
            <a:avLst/>
          </a:prstGeom>
          <a:noFill/>
        </p:spPr>
        <p:txBody>
          <a:bodyPr wrap="square">
            <a:spAutoFit/>
          </a:bodyPr>
          <a:lstStyle/>
          <a:p>
            <a:pPr algn="l">
              <a:spcAft>
                <a:spcPts val="800"/>
              </a:spcAft>
            </a:pPr>
            <a:r>
              <a:rPr sz="2200" dirty="0">
                <a:solidFill>
                  <a:srgbClr val="21292C"/>
                </a:solidFill>
                <a:latin typeface="Times New Roman" panose="02020603050405020304" pitchFamily="18" charset="0"/>
                <a:cs typeface="Times New Roman" panose="02020603050405020304" pitchFamily="18" charset="0"/>
              </a:rPr>
              <a:t>▪ Incorporate real-time weather/satellite data for live seasonal forecasting.</a:t>
            </a:r>
          </a:p>
          <a:p>
            <a:pPr algn="l">
              <a:spcAft>
                <a:spcPts val="800"/>
              </a:spcAft>
            </a:pPr>
            <a:r>
              <a:rPr sz="2200" dirty="0">
                <a:solidFill>
                  <a:srgbClr val="21292C"/>
                </a:solidFill>
                <a:latin typeface="Times New Roman" panose="02020603050405020304" pitchFamily="18" charset="0"/>
                <a:cs typeface="Times New Roman" panose="02020603050405020304" pitchFamily="18" charset="0"/>
              </a:rPr>
              <a:t>▪ Build a predictive model to estimate yield and profit before a season starts.</a:t>
            </a:r>
          </a:p>
          <a:p>
            <a:pPr algn="l">
              <a:spcAft>
                <a:spcPts val="800"/>
              </a:spcAft>
            </a:pPr>
            <a:r>
              <a:rPr sz="2200" dirty="0">
                <a:solidFill>
                  <a:srgbClr val="21292C"/>
                </a:solidFill>
                <a:latin typeface="Times New Roman" panose="02020603050405020304" pitchFamily="18" charset="0"/>
                <a:cs typeface="Times New Roman" panose="02020603050405020304" pitchFamily="18" charset="0"/>
              </a:rPr>
              <a:t>▪ Extend the dataset to more states/districts for finer regional recommendations.</a:t>
            </a:r>
          </a:p>
          <a:p>
            <a:pPr algn="l">
              <a:spcAft>
                <a:spcPts val="800"/>
              </a:spcAft>
            </a:pPr>
            <a:r>
              <a:rPr sz="2200" dirty="0">
                <a:solidFill>
                  <a:srgbClr val="21292C"/>
                </a:solidFill>
                <a:latin typeface="Times New Roman" panose="02020603050405020304" pitchFamily="18" charset="0"/>
                <a:cs typeface="Times New Roman" panose="02020603050405020304" pitchFamily="18" charset="0"/>
              </a:rPr>
              <a:t>▪ Develop a dashboard for farmers/officers to compare seasonal strategies interactively.</a:t>
            </a:r>
          </a:p>
          <a:p>
            <a:pPr algn="l">
              <a:spcAft>
                <a:spcPts val="800"/>
              </a:spcAft>
            </a:pPr>
            <a:r>
              <a:rPr sz="2200" dirty="0">
                <a:solidFill>
                  <a:srgbClr val="21292C"/>
                </a:solidFill>
                <a:latin typeface="Times New Roman" panose="02020603050405020304" pitchFamily="18" charset="0"/>
                <a:cs typeface="Times New Roman" panose="02020603050405020304" pitchFamily="18" charset="0"/>
              </a:rPr>
              <a:t>▪ Study the root causes of the high share of loss-making farms to guide interventions.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07958" y="1201586"/>
            <a:ext cx="8554703" cy="369332"/>
          </a:xfrm>
          <a:prstGeom prst="rect">
            <a:avLst/>
          </a:prstGeom>
          <a:noFill/>
        </p:spPr>
        <p:txBody>
          <a:bodyPr wrap="square">
            <a:spAutoFit/>
          </a:bodyPr>
          <a:lstStyle/>
          <a:p>
            <a:r>
              <a:rPr lang="en-US" dirty="0"/>
              <a:t>https://github.com/kondetipallavi/Seasonal-Agriculture-Performance-Analysis</a:t>
            </a:r>
          </a:p>
        </p:txBody>
      </p:sp>
      <p:sp>
        <p:nvSpPr>
          <p:cNvPr id="6" name="TextBox 5">
            <a:extLst>
              <a:ext uri="{FF2B5EF4-FFF2-40B4-BE49-F238E27FC236}">
                <a16:creationId xmlns:a16="http://schemas.microsoft.com/office/drawing/2014/main" id="{C779FDAF-7F5C-79C8-B42E-C373E5F24F26}"/>
              </a:ext>
            </a:extLst>
          </p:cNvPr>
          <p:cNvSpPr txBox="1"/>
          <p:nvPr/>
        </p:nvSpPr>
        <p:spPr>
          <a:xfrm>
            <a:off x="675957" y="1833368"/>
            <a:ext cx="6102220" cy="646331"/>
          </a:xfrm>
          <a:prstGeom prst="rect">
            <a:avLst/>
          </a:prstGeom>
          <a:noFill/>
        </p:spPr>
        <p:txBody>
          <a:bodyPr wrap="square">
            <a:spAutoFit/>
          </a:bodyPr>
          <a:lstStyle/>
          <a:p>
            <a:r>
              <a:rPr lang="en-IN" sz="3600" b="1" dirty="0"/>
              <a:t>Google </a:t>
            </a:r>
            <a:r>
              <a:rPr lang="en-IN" sz="3600" b="1" dirty="0" err="1"/>
              <a:t>colab</a:t>
            </a:r>
            <a:r>
              <a:rPr lang="en-IN" sz="3600" b="1" dirty="0"/>
              <a:t> Link:</a:t>
            </a:r>
          </a:p>
        </p:txBody>
      </p:sp>
      <p:sp>
        <p:nvSpPr>
          <p:cNvPr id="10" name="TextBox 9">
            <a:extLst>
              <a:ext uri="{FF2B5EF4-FFF2-40B4-BE49-F238E27FC236}">
                <a16:creationId xmlns:a16="http://schemas.microsoft.com/office/drawing/2014/main" id="{27954E6C-0EEC-EBFC-6E2D-737008D146F4}"/>
              </a:ext>
            </a:extLst>
          </p:cNvPr>
          <p:cNvSpPr txBox="1"/>
          <p:nvPr/>
        </p:nvSpPr>
        <p:spPr>
          <a:xfrm>
            <a:off x="675956" y="2643698"/>
            <a:ext cx="9737007" cy="369332"/>
          </a:xfrm>
          <a:prstGeom prst="rect">
            <a:avLst/>
          </a:prstGeom>
          <a:noFill/>
        </p:spPr>
        <p:txBody>
          <a:bodyPr wrap="square">
            <a:spAutoFit/>
          </a:bodyPr>
          <a:lstStyle/>
          <a:p>
            <a:r>
              <a:rPr lang="en-IN"/>
              <a:t>https://colab.research.google.com/drive/1IfijytwTNn5hz0888AtQC3lly9Uz0gWv?usp=sharing</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93306" y="240082"/>
            <a:ext cx="11585802" cy="884658"/>
          </a:xfrm>
        </p:spPr>
        <p:txBody>
          <a:bodyPr>
            <a:normAutofit fontScale="90000"/>
          </a:bodyPr>
          <a:lstStyle/>
          <a:p>
            <a:r>
              <a:rPr lang="en-IN" sz="3200" dirty="0"/>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DDC1DB7-B041-4C33-44D2-F9025D0B3B4C}"/>
              </a:ext>
            </a:extLst>
          </p:cNvPr>
          <p:cNvPicPr>
            <a:picLocks noChangeAspect="1"/>
          </p:cNvPicPr>
          <p:nvPr/>
        </p:nvPicPr>
        <p:blipFill>
          <a:blip r:embed="rId3"/>
          <a:stretch>
            <a:fillRect/>
          </a:stretch>
        </p:blipFill>
        <p:spPr>
          <a:xfrm>
            <a:off x="531553" y="1255247"/>
            <a:ext cx="9200276" cy="55402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37316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1394</TotalTime>
  <Words>519</Words>
  <Application>Microsoft Office PowerPoint</Application>
  <PresentationFormat>Widescreen</PresentationFormat>
  <Paragraphs>43</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Kondeti pallavi</cp:lastModifiedBy>
  <cp:revision>100</cp:revision>
  <dcterms:created xsi:type="dcterms:W3CDTF">2021-07-11T13:13:15Z</dcterms:created>
  <dcterms:modified xsi:type="dcterms:W3CDTF">2026-09-12T15:39:41Z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